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5" r:id="rId6"/>
    <p:sldId id="262" r:id="rId7"/>
    <p:sldId id="263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4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>
        <p:scale>
          <a:sx n="132" d="100"/>
          <a:sy n="132" d="100"/>
        </p:scale>
        <p:origin x="376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1399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64008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0312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LLM-Driven Alpha</a:t>
            </a:r>
            <a:endParaRPr lang="en-US" sz="42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Mining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371600" y="356616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Trading Signal Discovery with High-Performance Backtesting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4190238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Haotong </a:t>
            </a:r>
            <a:r>
              <a:rPr lang="en-US" sz="13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</a:t>
            </a: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Yujun Yao  |  Advanced Python for Data Science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48640" y="1188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813816"/>
            <a:ext cx="8019288" cy="100126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548640" y="813816"/>
            <a:ext cx="54864" cy="1001268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89611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841248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Alpha?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046988"/>
            <a:ext cx="783640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Alpha (</a:t>
            </a:r>
            <a:r>
              <a:rPr lang="el-GR" sz="115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α) </a:t>
            </a:r>
            <a:r>
              <a:rPr lang="en-US" sz="115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is an investing term that measures an investment strategy's ability to outperform the market, often called its "edge.”</a:t>
            </a:r>
          </a:p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00D4AA"/>
                </a:solidFill>
                <a:latin typeface="Calibri" pitchFamily="34" charset="0"/>
                <a:cs typeface="Calibri" pitchFamily="34" charset="-120"/>
              </a:rPr>
              <a:t>e.g. - Positive Alpha -&gt; Outperform market benchmark</a:t>
            </a:r>
            <a:r>
              <a:rPr lang="zh-CN" altLang="en-US" sz="1000" dirty="0">
                <a:solidFill>
                  <a:srgbClr val="00D4AA"/>
                </a:solidFill>
                <a:latin typeface="Calibri" pitchFamily="34" charset="0"/>
                <a:cs typeface="Calibri" pitchFamily="34" charset="-120"/>
              </a:rPr>
              <a:t>       </a:t>
            </a:r>
            <a:r>
              <a:rPr lang="en-US" sz="1000" dirty="0">
                <a:solidFill>
                  <a:srgbClr val="00D4AA"/>
                </a:solidFill>
                <a:latin typeface="Calibri" pitchFamily="34" charset="0"/>
                <a:cs typeface="Calibri" pitchFamily="34" charset="-120"/>
              </a:rPr>
              <a:t>- Negative Alpha -&gt; Underperform market benchmark</a:t>
            </a:r>
          </a:p>
        </p:txBody>
      </p:sp>
      <p:sp>
        <p:nvSpPr>
          <p:cNvPr id="9" name="Shape 6"/>
          <p:cNvSpPr/>
          <p:nvPr/>
        </p:nvSpPr>
        <p:spPr>
          <a:xfrm>
            <a:off x="548640" y="1924812"/>
            <a:ext cx="8019288" cy="1437796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7"/>
          <p:cNvSpPr/>
          <p:nvPr/>
        </p:nvSpPr>
        <p:spPr>
          <a:xfrm>
            <a:off x="547050" y="1924812"/>
            <a:ext cx="54863" cy="1437796"/>
          </a:xfrm>
          <a:prstGeom prst="rect">
            <a:avLst/>
          </a:prstGeom>
          <a:solidFill>
            <a:srgbClr val="FFD700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053686"/>
            <a:ext cx="269748" cy="2697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34440" y="1984609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Traditional Approaches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22960" y="2293725"/>
            <a:ext cx="3373247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30000"/>
              </a:lnSpc>
              <a:buAutoNum type="arabicPeriod"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Discovery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Quant Researchers</a:t>
            </a:r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Pros: Interpretable</a:t>
            </a:r>
          </a:p>
          <a:p>
            <a:pPr>
              <a:lnSpc>
                <a:spcPct val="130000"/>
              </a:lnSpc>
            </a:pPr>
            <a:r>
              <a:rPr lang="zh-CN" alt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</a:t>
            </a:r>
            <a:r>
              <a:rPr lang="en-US" altLang="zh-CN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Cons: L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imited by human intuition and search space</a:t>
            </a:r>
          </a:p>
        </p:txBody>
      </p:sp>
      <p:sp>
        <p:nvSpPr>
          <p:cNvPr id="14" name="Shape 10"/>
          <p:cNvSpPr/>
          <p:nvPr/>
        </p:nvSpPr>
        <p:spPr>
          <a:xfrm>
            <a:off x="548640" y="3520440"/>
            <a:ext cx="8046720" cy="1472184"/>
          </a:xfrm>
          <a:prstGeom prst="rect">
            <a:avLst/>
          </a:prstGeom>
          <a:solidFill>
            <a:srgbClr val="0F1B2D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675888"/>
            <a:ext cx="324612" cy="32461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36301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Opportunity &amp; Challenge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2960" y="4000500"/>
            <a:ext cx="7498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can generate thousands of candidate alpha expressions, vastly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expanding search space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human capacity and ensuring that they are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economically meaningful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Evaluating thousands of factors across years of multi-stock data demands 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 computation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7F90C576-8299-2E57-C3D4-939209D5B4DC}"/>
              </a:ext>
            </a:extLst>
          </p:cNvPr>
          <p:cNvSpPr/>
          <p:nvPr/>
        </p:nvSpPr>
        <p:spPr>
          <a:xfrm>
            <a:off x="4417254" y="2283714"/>
            <a:ext cx="3795273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altLang="zh-CN" sz="11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2. Genetic Programming(ML)</a:t>
            </a:r>
            <a:r>
              <a:rPr lang="zh-CN" altLang="en-US" sz="11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Treats factor expressions as </a:t>
            </a: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syntax trees </a:t>
            </a:r>
            <a:r>
              <a:rPr lang="en-US" sz="11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and evolves them through crossover and mutation</a:t>
            </a:r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Pros: Large search space</a:t>
            </a:r>
          </a:p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cs typeface="Calibri" pitchFamily="34" charset="-120"/>
              </a:rPr>
              <a:t>Cons: Uninterpretable &amp; Overfitting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4" y="-2437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Goals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39763" y="3468202"/>
            <a:ext cx="2377440" cy="1463040"/>
          </a:xfrm>
          <a:prstGeom prst="rect">
            <a:avLst/>
          </a:prstGeom>
          <a:solidFill>
            <a:srgbClr val="152238"/>
          </a:solidFill>
          <a:ln w="19050">
            <a:solidFill>
              <a:srgbClr val="00D4A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9883" y="360536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39763" y="415400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Factor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74403" y="3468202"/>
            <a:ext cx="2377440" cy="1463040"/>
          </a:xfrm>
          <a:prstGeom prst="rect">
            <a:avLst/>
          </a:prstGeom>
          <a:solidFill>
            <a:srgbClr val="152238"/>
          </a:solidFill>
          <a:ln w="19050">
            <a:solidFill>
              <a:srgbClr val="00D4A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523" y="3605362"/>
            <a:ext cx="457200" cy="4572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74403" y="415400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High-Performance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Backtesting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09043" y="3468202"/>
            <a:ext cx="2377440" cy="1463040"/>
          </a:xfrm>
          <a:prstGeom prst="rect">
            <a:avLst/>
          </a:prstGeom>
          <a:solidFill>
            <a:srgbClr val="152238"/>
          </a:solidFill>
          <a:ln w="19050">
            <a:solidFill>
              <a:srgbClr val="00D4A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69163" y="3605362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209043" y="4154002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Ranking</a:t>
            </a:r>
            <a:endParaRPr lang="en-US" sz="13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62923" y="3971122"/>
            <a:ext cx="365760" cy="365760"/>
          </a:xfrm>
          <a:prstGeom prst="rect">
            <a:avLst/>
          </a:prstGeom>
        </p:spPr>
      </p:pic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7563" y="3971122"/>
            <a:ext cx="365760" cy="365760"/>
          </a:xfrm>
          <a:prstGeom prst="rect">
            <a:avLst/>
          </a:prstGeom>
        </p:spPr>
      </p:pic>
      <p:sp>
        <p:nvSpPr>
          <p:cNvPr id="21" name="Shape 2">
            <a:extLst>
              <a:ext uri="{FF2B5EF4-FFF2-40B4-BE49-F238E27FC236}">
                <a16:creationId xmlns:a16="http://schemas.microsoft.com/office/drawing/2014/main" id="{C4017B56-D97B-1488-8BBA-401182C818A1}"/>
              </a:ext>
            </a:extLst>
          </p:cNvPr>
          <p:cNvSpPr/>
          <p:nvPr/>
        </p:nvSpPr>
        <p:spPr>
          <a:xfrm>
            <a:off x="548640" y="993370"/>
            <a:ext cx="8046720" cy="1672424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CCC09C85-68FA-9D69-7EA3-A3C674943CDF}"/>
              </a:ext>
            </a:extLst>
          </p:cNvPr>
          <p:cNvSpPr/>
          <p:nvPr/>
        </p:nvSpPr>
        <p:spPr>
          <a:xfrm>
            <a:off x="548640" y="993370"/>
            <a:ext cx="8046720" cy="45719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9"/>
          <p:cNvSpPr/>
          <p:nvPr/>
        </p:nvSpPr>
        <p:spPr>
          <a:xfrm>
            <a:off x="748450" y="1016229"/>
            <a:ext cx="7605437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50000"/>
              </a:lnSpc>
              <a:buSzPct val="100000"/>
            </a:pPr>
            <a:r>
              <a:rPr lang="en-US" b="1" dirty="0">
                <a:latin typeface="Georgia" pitchFamily="34" charset="0"/>
              </a:rPr>
              <a:t>Accelerate alpha </a:t>
            </a:r>
            <a:r>
              <a:rPr lang="en-US" b="1" dirty="0" err="1">
                <a:latin typeface="Georgia" pitchFamily="34" charset="0"/>
              </a:rPr>
              <a:t>backtesting</a:t>
            </a:r>
            <a:r>
              <a:rPr lang="en-US" b="1" dirty="0">
                <a:latin typeface="Georgia" pitchFamily="34" charset="0"/>
              </a:rPr>
              <a:t> </a:t>
            </a:r>
            <a:r>
              <a:rPr lang="en-US" dirty="0">
                <a:latin typeface="Georgia" pitchFamily="34" charset="0"/>
              </a:rPr>
              <a:t>through high-performance computing techniques</a:t>
            </a:r>
            <a:r>
              <a:rPr lang="zh-CN" altLang="en-US" dirty="0">
                <a:latin typeface="Georgia" pitchFamily="34" charset="0"/>
              </a:rPr>
              <a:t> </a:t>
            </a:r>
            <a:r>
              <a:rPr lang="en-US" dirty="0">
                <a:latin typeface="Georgia" pitchFamily="34" charset="0"/>
              </a:rPr>
              <a:t>learned in this course,</a:t>
            </a:r>
            <a:r>
              <a:rPr lang="zh-CN" altLang="en-US" dirty="0">
                <a:latin typeface="Georgia" pitchFamily="34" charset="0"/>
              </a:rPr>
              <a:t> </a:t>
            </a:r>
            <a:endParaRPr lang="en-US" altLang="zh-CN" dirty="0">
              <a:latin typeface="Georgia" pitchFamily="34" charset="0"/>
            </a:endParaRPr>
          </a:p>
          <a:p>
            <a:pPr algn="ctr">
              <a:lnSpc>
                <a:spcPct val="150000"/>
              </a:lnSpc>
              <a:buSzPct val="100000"/>
            </a:pPr>
            <a:r>
              <a:rPr lang="en-US" dirty="0">
                <a:latin typeface="Georgia" pitchFamily="34" charset="0"/>
              </a:rPr>
              <a:t>and produce a curated </a:t>
            </a:r>
            <a:r>
              <a:rPr lang="en-US" b="1" dirty="0">
                <a:latin typeface="Georgia" pitchFamily="34" charset="0"/>
              </a:rPr>
              <a:t>list of effective, interpretable alpha factors</a:t>
            </a:r>
            <a:r>
              <a:rPr lang="en-US" dirty="0">
                <a:latin typeface="Georgia" pitchFamily="34" charset="0"/>
              </a:rPr>
              <a:t>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B374E-A7F1-8104-AF66-84CBD10FBF22}"/>
              </a:ext>
            </a:extLst>
          </p:cNvPr>
          <p:cNvSpPr txBox="1"/>
          <p:nvPr/>
        </p:nvSpPr>
        <p:spPr>
          <a:xfrm>
            <a:off x="539763" y="2787140"/>
            <a:ext cx="46083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Approach</a:t>
            </a:r>
            <a:endParaRPr lang="en-CN" sz="28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Factor Generation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Components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840480" cy="86868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4864" cy="8686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77724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Library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377440" y="169164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rank, ts_mean, ts_std, ts_corr,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ts_delta, sign, log, abs, power ...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3840480" cy="86868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548640" y="2697480"/>
            <a:ext cx="54864" cy="8686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77724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77440" y="27432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open, high, low, close, volume,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vwap, returns, adv20 ...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840480" cy="868680"/>
          </a:xfrm>
          <a:prstGeom prst="rect">
            <a:avLst/>
          </a:prstGeom>
          <a:solidFill>
            <a:srgbClr val="152238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548640" y="3749040"/>
            <a:ext cx="54864" cy="8686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77724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Examples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77440" y="379476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Known alpha factors as prompt</a:t>
            </a:r>
            <a:endParaRPr lang="en-US" sz="105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examples for pattern guidance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4632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846320" y="1645920"/>
            <a:ext cx="3840480" cy="3017520"/>
          </a:xfrm>
          <a:prstGeom prst="rect">
            <a:avLst/>
          </a:prstGeom>
          <a:solidFill>
            <a:srgbClr val="152238"/>
          </a:solidFill>
          <a:ln w="12700">
            <a:solidFill>
              <a:srgbClr val="00D4AA"/>
            </a:solidFill>
            <a:prstDash val="solid"/>
          </a:ln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5029200" y="17830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Math Expressions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29200" y="228600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rank(ts_corr(close, volume, 10))</a:t>
            </a:r>
            <a:endParaRPr lang="en-US" sz="11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ts_delta(close, 5) / ts_std(close, 20)</a:t>
            </a:r>
            <a:endParaRPr lang="en-US" sz="11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sign(ts_mean(volume, 10) - volume)</a:t>
            </a:r>
            <a:endParaRPr lang="en-US" sz="11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rank(close / ts_mean(close, 20))</a:t>
            </a:r>
            <a:endParaRPr lang="en-US" sz="1100" dirty="0"/>
          </a:p>
          <a:p>
            <a:pPr marL="0" indent="0">
              <a:lnSpc>
                <a:spcPct val="18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ts_corr(rank(open), rank(volume), 5)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2920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via AST / Lark grammar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48640" y="3977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High-Performance Backtesting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1344168"/>
            <a:ext cx="201168" cy="201168"/>
          </a:xfrm>
          <a:prstGeom prst="ellipse">
            <a:avLst/>
          </a:prstGeom>
          <a:solidFill>
            <a:srgbClr val="FF6B6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Shape 4"/>
          <p:cNvSpPr/>
          <p:nvPr/>
        </p:nvSpPr>
        <p:spPr>
          <a:xfrm>
            <a:off x="722376" y="1545336"/>
            <a:ext cx="36576" cy="5303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80360" y="12344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Pandas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with iterative loops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075688"/>
            <a:ext cx="201168" cy="201168"/>
          </a:xfrm>
          <a:prstGeom prst="ellipse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722376" y="2276856"/>
            <a:ext cx="36576" cy="5303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105156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1.0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80360" y="1965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best practices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local variables, reduced function call overhead, loop elimination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807208"/>
            <a:ext cx="201168" cy="201168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4" name="Shape 12"/>
          <p:cNvSpPr/>
          <p:nvPr/>
        </p:nvSpPr>
        <p:spPr>
          <a:xfrm>
            <a:off x="722376" y="3008376"/>
            <a:ext cx="36576" cy="5303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5" name="Text 13"/>
          <p:cNvSpPr/>
          <p:nvPr/>
        </p:nvSpPr>
        <p:spPr>
          <a:xfrm>
            <a:off x="1051560" y="26974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2.0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80360" y="26974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vectorization — replace Pandas row-wise operations with vectorized array operations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538728"/>
            <a:ext cx="201168" cy="201168"/>
          </a:xfrm>
          <a:prstGeom prst="ellipse">
            <a:avLst/>
          </a:prstGeom>
          <a:solidFill>
            <a:srgbClr val="8B5CF6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8" name="Shape 16"/>
          <p:cNvSpPr/>
          <p:nvPr/>
        </p:nvSpPr>
        <p:spPr>
          <a:xfrm>
            <a:off x="722376" y="3739896"/>
            <a:ext cx="36576" cy="530352"/>
          </a:xfrm>
          <a:prstGeom prst="rect">
            <a:avLst/>
          </a:prstGeom>
          <a:solidFill>
            <a:srgbClr val="E2E8F0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9" name="Text 17"/>
          <p:cNvSpPr/>
          <p:nvPr/>
        </p:nvSpPr>
        <p:spPr>
          <a:xfrm>
            <a:off x="105156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3.0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80360" y="34290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Numba JIT </a:t>
            </a: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apply @jit(nopython=True) to core computation kernels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70248"/>
            <a:ext cx="201168" cy="201168"/>
          </a:xfrm>
          <a:prstGeom prst="ellipse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2" name="Text 20"/>
          <p:cNvSpPr/>
          <p:nvPr/>
        </p:nvSpPr>
        <p:spPr>
          <a:xfrm>
            <a:off x="1051560" y="41605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4.0*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41605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acceleration — CuPy / Numba CUDA for parallel computation across stocks and factors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Evaluation &amp; Ranking Metrics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554480" cy="292608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155448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Coefficient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correlation between predicted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realized returns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148840" y="1188720"/>
            <a:ext cx="1554480" cy="292608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8"/>
          <p:cNvSpPr/>
          <p:nvPr/>
        </p:nvSpPr>
        <p:spPr>
          <a:xfrm>
            <a:off x="2148840" y="1188720"/>
            <a:ext cx="155448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1" name="Text 9"/>
          <p:cNvSpPr/>
          <p:nvPr/>
        </p:nvSpPr>
        <p:spPr>
          <a:xfrm>
            <a:off x="2148840" y="1417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ICIR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24028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 Information Ratio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40280" y="25146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IC / Std(IC) — measures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consistency over time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0" y="1188720"/>
            <a:ext cx="1554480" cy="292608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3"/>
          <p:cNvSpPr/>
          <p:nvPr/>
        </p:nvSpPr>
        <p:spPr>
          <a:xfrm>
            <a:off x="3840480" y="1188720"/>
            <a:ext cx="155448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16" name="Text 14"/>
          <p:cNvSpPr/>
          <p:nvPr/>
        </p:nvSpPr>
        <p:spPr>
          <a:xfrm>
            <a:off x="3840480" y="1417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Sharpe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93192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25146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Risk-adjusted return of the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factor-driven portfolio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532120" y="1188720"/>
            <a:ext cx="1554480" cy="292608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0" name="Shape 18"/>
          <p:cNvSpPr/>
          <p:nvPr/>
        </p:nvSpPr>
        <p:spPr>
          <a:xfrm>
            <a:off x="5532120" y="1188720"/>
            <a:ext cx="155448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1" name="Text 19"/>
          <p:cNvSpPr/>
          <p:nvPr/>
        </p:nvSpPr>
        <p:spPr>
          <a:xfrm>
            <a:off x="5532120" y="1417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MDD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62356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623560" y="25146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peak-to-trough decline —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downside risk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223760" y="1188720"/>
            <a:ext cx="1554480" cy="2926080"/>
          </a:xfrm>
          <a:prstGeom prst="rect">
            <a:avLst/>
          </a:prstGeom>
          <a:solidFill>
            <a:srgbClr val="152238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25" name="Shape 23"/>
          <p:cNvSpPr/>
          <p:nvPr/>
        </p:nvSpPr>
        <p:spPr>
          <a:xfrm>
            <a:off x="7223760" y="1188720"/>
            <a:ext cx="155448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26" name="Text 24"/>
          <p:cNvSpPr/>
          <p:nvPr/>
        </p:nvSpPr>
        <p:spPr>
          <a:xfrm>
            <a:off x="7223760" y="141732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D4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315200" y="20574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0" y="2514600"/>
            <a:ext cx="1371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rebalancing frequency —</a:t>
            </a:r>
            <a:endParaRPr lang="en-US" sz="10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for transaction costs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 ranked by composite score across all metrics to identify robust trading signals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Anticipated Deliverables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64008" cy="10972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1887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Pipeline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160020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from LLM factor generation through expression parsing to evaluated results — modular, extensible architecture.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37744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0" name="Shape 7"/>
          <p:cNvSpPr/>
          <p:nvPr/>
        </p:nvSpPr>
        <p:spPr>
          <a:xfrm>
            <a:off x="548640" y="2377440"/>
            <a:ext cx="64008" cy="10972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65176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24688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Benchmark Report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554480" y="288036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table comparing each optimization level (Baseline → Opt 4.0) with speedup ratios, profiling data, and bottleneck analysis.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657600"/>
            <a:ext cx="8046720" cy="109728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N"/>
          </a:p>
        </p:txBody>
      </p:sp>
      <p:sp>
        <p:nvSpPr>
          <p:cNvPr id="15" name="Shape 11"/>
          <p:cNvSpPr/>
          <p:nvPr/>
        </p:nvSpPr>
        <p:spPr>
          <a:xfrm>
            <a:off x="548640" y="3657600"/>
            <a:ext cx="64008" cy="1097280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93192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749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Alpha Evaluation Report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554480" y="4160520"/>
            <a:ext cx="6766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Quantitative metrics for generated factors: IC, ICIR, Sharpe, Max Drawdown, Turnover — with factor ranking and selection.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200" y="91440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3774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828800" y="32918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182880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yy4107@nyu.edu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  <p:txBody>
          <a:bodyPr/>
          <a:lstStyle/>
          <a:p>
            <a:endParaRPr lang="en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583</Words>
  <Application>Microsoft Macintosh PowerPoint</Application>
  <PresentationFormat>On-screen Show (16:9)</PresentationFormat>
  <Paragraphs>97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LLM-Driven Alpha Factor Mining</dc:title>
  <dc:subject>PptxGenJS Presentation</dc:subject>
  <dc:creator>Yujun</dc:creator>
  <cp:lastModifiedBy>YaoYuJun</cp:lastModifiedBy>
  <cp:revision>2</cp:revision>
  <dcterms:created xsi:type="dcterms:W3CDTF">2026-03-03T18:22:43Z</dcterms:created>
  <dcterms:modified xsi:type="dcterms:W3CDTF">2026-03-04T01:24:05Z</dcterms:modified>
</cp:coreProperties>
</file>